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E95BE55-A527-4C4F-A967-67BA77762A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CD3C8DC-F128-40CC-AE13-0E377BDD3FF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B934DB4-E239-4CD5-A4E7-9748E0AD51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2468F6-EF92-4EC9-89A6-7C36BBCF69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28BBD6-1DE3-4F8A-8FF7-75949201770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726FAE-1669-448D-8B85-875DDE2D2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903D492-5B9C-4EE2-8B00-DF95ECB902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117FF4-70B2-472D-88F7-D8AB99D39A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C6A414-91EC-4A34-ACB5-1CEBC89B96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текста заглавия щёлкните мышью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25B190B-903C-442E-BDC3-951E0D4796A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25A3059-7EC8-41B9-9B09-36AA4094BC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lang="ru-RU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822960" y="2377440"/>
            <a:ext cx="72720" cy="182844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051560" y="2331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CAPSTONE PROJECT PITCH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051560" y="26974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Next-Gen Music Recommender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051560" y="3520440"/>
            <a:ext cx="109724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on real Yandex listening data (Yambda)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5" name="Connector 5"/>
          <p:cNvCxnSpPr/>
          <p:nvPr/>
        </p:nvCxnSpPr>
        <p:spPr>
          <a:xfrm>
            <a:off x="822960" y="480060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66" name="TextBox 6"/>
          <p:cNvSpPr/>
          <p:nvPr/>
        </p:nvSpPr>
        <p:spPr>
          <a:xfrm>
            <a:off x="822960" y="493776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Anna Grishkina · Valeria Karpova · Aleksey Kosychev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822960" y="5349240"/>
            <a:ext cx="10972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HSE Master's · NNDL · Module 2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822960" y="5715000"/>
            <a:ext cx="109724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Real-world operational data (+2 bonus)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PROBLEM STATEMENT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Predict the next track for a streaming user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72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we are solving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822960" y="233172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Given a 10 M-track catalogue, predict the next track a user will actually want to hear — the central decision a streaming product makes every few minutes.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822960" y="36576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now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822960" y="4069080"/>
            <a:ext cx="1051524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≈ 70 % of streaming users say they struggle to discover new music — bad recommendations are the dominant churn driver.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Streaming market is saturated; subscriber growth has plateaued, so retention is the #1 commercial metric.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6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 +15 % relative lift in next-track accuracy is the difference between catching up and leading.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01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DATA — OUR KEY ADVANTAGE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· 4.79 B real listening events from Yandex Music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1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Source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Yambda by Yandex on Hugging Face — released May 2025, less than one year old.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822960" y="28803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—  1 M users   ·   9.39 M tracks   ·   4.79 B events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822960" y="35204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Why it is strong for this task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822960" y="3931920"/>
            <a:ext cx="10515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Three signal layers: explicit feedback (likes / dislikes), implicit (plays / skips / replays), and precomputed audio embeddings.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An is_organic flag on every event — distinguishes user-driven from recommender-driven plays. Trains without recommender-bias loop.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Real production distributions: heavy-tail catalogue, real cold-start, real session structure — none of which an academic dataset reproduces.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6" name="Connector 9"/>
          <p:cNvCxnSpPr/>
          <p:nvPr/>
        </p:nvCxnSpPr>
        <p:spPr>
          <a:xfrm>
            <a:off x="822960" y="589788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87" name="TextBox 10"/>
          <p:cNvSpPr/>
          <p:nvPr/>
        </p:nvSpPr>
        <p:spPr>
          <a:xfrm>
            <a:off x="822960" y="598932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Real-world operational data → qualifies for the +2 bonus, target = 10 / 10.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02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MODELING APPROACH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Hybrid: SASRec sequence model  +  two-tower content network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2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3" name="TextBox 4"/>
          <p:cNvSpPr/>
          <p:nvPr/>
        </p:nvSpPr>
        <p:spPr>
          <a:xfrm>
            <a:off x="822960" y="196596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A · SASRec — sequence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822960" y="2377440"/>
            <a:ext cx="512028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Causal-attention Transformer over the user's listening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Structurally a small GPT (we already shipped MiniGPT and StockGPT).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Learns transition patterns and predicts the next track from the sequence so far.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583680" y="196596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B · Two-Tower — content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6583680" y="2377440"/>
            <a:ext cx="493740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User-tower / item-tower trained on Yambda's precomputed audio embeddings.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Scores tracks even with zero interaction history.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Directly fixes the cold-start problem that breaks pure collaborative filtering.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Connector 8"/>
          <p:cNvCxnSpPr/>
          <p:nvPr/>
        </p:nvCxnSpPr>
        <p:spPr>
          <a:xfrm>
            <a:off x="822960" y="507492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98" name="TextBox 9"/>
          <p:cNvSpPr/>
          <p:nvPr/>
        </p:nvSpPr>
        <p:spPr>
          <a:xfrm>
            <a:off x="822960" y="521208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Fusion &amp; why this approach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0"/>
          <p:cNvSpPr/>
          <p:nvPr/>
        </p:nvSpPr>
        <p:spPr>
          <a:xfrm>
            <a:off x="822960" y="562356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Outputs combined with learned weights — model picks behavioural-vs-content balance automatically.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3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Pure matrix factorisation loses sequence; pure CF fails on new tracks. The hybrid handles both.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03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822960" y="640080"/>
            <a:ext cx="3657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KPI &amp; BUSINESS IMPACT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822960" y="93276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ranking quality at the top of the list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Connector 3"/>
          <p:cNvCxnSpPr/>
          <p:nvPr/>
        </p:nvCxnSpPr>
        <p:spPr>
          <a:xfrm>
            <a:off x="822960" y="16916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05" name="TextBox 4"/>
          <p:cNvSpPr/>
          <p:nvPr/>
        </p:nvSpPr>
        <p:spPr>
          <a:xfrm>
            <a:off x="822960" y="196596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Primary metric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822960" y="2331720"/>
            <a:ext cx="10515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NDCG@10 — Normalised Discounted Cumulative Gain at top-10.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6"/>
          <p:cNvSpPr/>
          <p:nvPr/>
        </p:nvSpPr>
        <p:spPr>
          <a:xfrm>
            <a:off x="822960" y="2880360"/>
            <a:ext cx="10515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How many relevant tracks are in the top-10, and how well are they ordered (better tracks first).</a:t>
            </a:r>
            <a:endParaRPr lang="ru-RU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7"/>
          <p:cNvSpPr/>
          <p:nvPr/>
        </p:nvSpPr>
        <p:spPr>
          <a:xfrm>
            <a:off x="822960" y="361188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Targets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822960" y="4023360"/>
            <a:ext cx="51202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Yandex BPR baseline:  NDCG@10 ≈ 0.38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Our goal:  NDCG@10 ≥ 0.44   (+15 % relative)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6583680" y="3611880"/>
            <a:ext cx="49374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Expected business impact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"/>
          <p:cNvSpPr/>
          <p:nvPr/>
        </p:nvSpPr>
        <p:spPr>
          <a:xfrm>
            <a:off x="6583680" y="4023360"/>
            <a:ext cx="4937400" cy="22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+18 – 22 % listening time per active user.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− 10 % monthly churn.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4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+3 – 5 M ₽ / month subscription revenue at Yandex Music scale.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12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04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Rectangle 1"/>
          <p:cNvSpPr/>
          <p:nvPr/>
        </p:nvSpPr>
        <p:spPr>
          <a:xfrm>
            <a:off x="822960" y="868680"/>
            <a:ext cx="72720" cy="1279800"/>
          </a:xfrm>
          <a:prstGeom prst="rect">
            <a:avLst/>
          </a:prstGeom>
          <a:solidFill>
            <a:srgbClr val="2a6fd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2"/>
          <p:cNvSpPr/>
          <p:nvPr/>
        </p:nvSpPr>
        <p:spPr>
          <a:xfrm>
            <a:off x="1051560" y="77724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SUMMARY &amp; CALL TO ACTION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"/>
          <p:cNvSpPr/>
          <p:nvPr/>
        </p:nvSpPr>
        <p:spPr>
          <a:xfrm>
            <a:off x="10515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What we ship.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4"/>
          <p:cNvSpPr/>
          <p:nvPr/>
        </p:nvSpPr>
        <p:spPr>
          <a:xfrm>
            <a:off x="822960" y="2331720"/>
            <a:ext cx="1051524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Real Yandex listening data (Yambda, 4.79 B events) → hybrid neural recommender — SASRec sequence model + two-tower content network on audio embeddings → predict the next track for a streaming user. Success bar: NDCG@10 ≥ 0.44 (+15 % over the published Yandex baseline). Business impact: longer sessions, lower churn, measurable revenue lift.</a:t>
            </a:r>
            <a:endParaRPr lang="ru-RU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" name="Connector 5"/>
          <p:cNvCxnSpPr/>
          <p:nvPr/>
        </p:nvCxnSpPr>
        <p:spPr>
          <a:xfrm>
            <a:off x="822960" y="4434840"/>
            <a:ext cx="10545840" cy="360"/>
          </a:xfrm>
          <a:prstGeom prst="straightConnector1">
            <a:avLst/>
          </a:prstGeom>
          <a:ln w="9525">
            <a:solidFill>
              <a:srgbClr val="e5e7eb"/>
            </a:solidFill>
            <a:round/>
          </a:ln>
        </p:spPr>
      </p:cxnSp>
      <p:sp>
        <p:nvSpPr>
          <p:cNvPr id="119" name="TextBox 6"/>
          <p:cNvSpPr/>
          <p:nvPr/>
        </p:nvSpPr>
        <p:spPr>
          <a:xfrm>
            <a:off x="822960" y="4572000"/>
            <a:ext cx="105152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2a6fdb"/>
                </a:solidFill>
                <a:effectLst/>
                <a:uFillTx/>
                <a:latin typeface="Calibri"/>
              </a:rPr>
              <a:t>What we need to execute</a:t>
            </a:r>
            <a:endParaRPr lang="ru-RU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7"/>
          <p:cNvSpPr/>
          <p:nvPr/>
        </p:nvSpPr>
        <p:spPr>
          <a:xfrm>
            <a:off x="822960" y="4983480"/>
            <a:ext cx="1051524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Yambda dataset on Hugging Face — already public, free.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GPU instance with 80 – 160 GB memory (Colab Pro+ or Yandex Cloud) for 1 – 2 weeks.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500" b="0" u="none" strike="noStrike">
                <a:solidFill>
                  <a:srgbClr val="1f242c"/>
                </a:solidFill>
                <a:effectLst/>
                <a:uFillTx/>
                <a:latin typeface="Calibri"/>
              </a:rPr>
              <a:t>—  Two project weeks end-to-end:  pipeline + baselines, then hybrid model + evaluation.</a:t>
            </a:r>
            <a:endParaRPr lang="ru-R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8"/>
          <p:cNvSpPr/>
          <p:nvPr/>
        </p:nvSpPr>
        <p:spPr>
          <a:xfrm>
            <a:off x="822960" y="64008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Next-Gen Music Recommender · Capstone Pitch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9"/>
          <p:cNvSpPr/>
          <p:nvPr/>
        </p:nvSpPr>
        <p:spPr>
          <a:xfrm>
            <a:off x="7711200" y="6400800"/>
            <a:ext cx="3657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6b7280"/>
                </a:solidFill>
                <a:effectLst/>
                <a:uFillTx/>
                <a:latin typeface="Calibri"/>
              </a:rPr>
              <a:t>05 / 05</a:t>
            </a:r>
            <a:endParaRPr lang="ru-RU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LibreOffice/25.8.5.2$Windows_X86_64 LibreOffice_project/9c8b85f387cc00a89945a79c9e6239f32e450ac2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ru-RU</dc:language>
  <cp:lastModifiedBy/>
  <dcterms:modified xsi:type="dcterms:W3CDTF">2026-04-28T18:20:01Z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